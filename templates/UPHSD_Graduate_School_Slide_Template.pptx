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bcae490-a94b-2a04-fd47-54693d931b97}">
          <p14:sldIdLst>
            <p14:sldId id="256"/>
          </p14:sldIdLst>
        </p14:section>
        <p14:section name="Body" id="{bd958877-9c17-bd21-dc02-f33d1b3149d6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Closing" id="{f34e8367-ea93-f131-0db0-cdef1adf8a2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course line, title, subtitle, presenter, and date. The seal, school name, and motto are part of the layout and stay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Duplicate it for each part of your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slide with a bulleted body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comparisons: before and after, policy and practice, strengths and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Title-only layout with three cards drawn on the slide. Copy a card to make four, or delete one to make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PowerPoint table in the template colours. Add rows from the Table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 or quotation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with your name and contact, or the questions you want the class to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HSD Title">
    <p:bg>
      <p:bgPr>
        <a:solidFill>
          <a:srgbClr val="7B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4E0A0C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0"/>
            <a:ext cx="73152" cy="68580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4" name="Image 0" descr="/home/claude/work/tpl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234440"/>
            <a:ext cx="256032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92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SCHOOL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5257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D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Piñas City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6172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D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Building is Nation Building</a:t>
            </a:r>
            <a:endParaRPr lang="en-US" sz="13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4754880" y="137160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COURSE CODE · SECTION</a:t>
            </a:r>
            <a:endParaRPr lang="en-US" sz="1300" dirty="0"/>
          </a:p>
        </p:txBody>
      </p:sp>
      <p:sp>
        <p:nvSpPr>
          <p:cNvPr id="9" name="Text 5"/>
          <p:cNvSpPr/>
          <p:nvPr>
            <p:ph idx="107" type="title" hasCustomPrompt="1"/>
          </p:nvPr>
        </p:nvSpPr>
        <p:spPr>
          <a:xfrm>
            <a:off x="4754880" y="178308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10" name="Text 5"/>
          <p:cNvSpPr/>
          <p:nvPr>
            <p:ph idx="108" type="body" hasCustomPrompt="1"/>
          </p:nvPr>
        </p:nvSpPr>
        <p:spPr>
          <a:xfrm>
            <a:off x="4754880" y="3703320"/>
            <a:ext cx="6949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20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Subtitle or topic</a:t>
            </a:r>
            <a:endParaRPr lang="en-US" sz="2000" dirty="0"/>
          </a:p>
        </p:txBody>
      </p:sp>
      <p:sp>
        <p:nvSpPr>
          <p:cNvPr id="11" name="Text 5"/>
          <p:cNvSpPr/>
          <p:nvPr>
            <p:ph idx="109" type="body" hasCustomPrompt="1"/>
          </p:nvPr>
        </p:nvSpPr>
        <p:spPr>
          <a:xfrm>
            <a:off x="4754880" y="47548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Presenter name · Group number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Date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HSD Section">
    <p:bg>
      <p:bgPr>
        <a:solidFill>
          <a:srgbClr val="7B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tpl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822960"/>
            <a:ext cx="4754880" cy="6400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965960"/>
            <a:ext cx="1097280" cy="73152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4" name="Image 1" descr="/home/claude/work/tpl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320040"/>
            <a:ext cx="685800" cy="905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D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Building is Nation Building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</a:t>
            </a:r>
            <a:endParaRPr lang="en-US" sz="14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822960" y="224028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Section title</a:t>
            </a:r>
            <a:endParaRPr lang="en-US" sz="44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822960" y="384048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One line on what this part covers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HS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tpl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600200"/>
            <a:ext cx="3429000" cy="4626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B111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548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6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PERPETUAL HELP SYSTEM DALTA  ·  GRADUATE SCHOOL</a:t>
            </a:r>
            <a:endParaRPr lang="en-US" sz="1050" dirty="0"/>
          </a:p>
        </p:txBody>
      </p:sp>
      <p:pic>
        <p:nvPicPr>
          <p:cNvPr id="6" name="Image 1" descr="/home/claude/work/tpl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73152"/>
            <a:ext cx="548640" cy="7223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6327648"/>
            <a:ext cx="11094415" cy="18288"/>
          </a:xfrm>
          <a:prstGeom prst="rect">
            <a:avLst/>
          </a:prstGeom>
          <a:solidFill>
            <a:srgbClr val="E3D3AE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Perpetual Help System DALTA  ·  Graduate School  ·  Las Piñas City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766560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B11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Building is Nation Building</a:t>
            </a:r>
            <a:endParaRPr lang="en-US" sz="10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548640" y="731520"/>
            <a:ext cx="104241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SECTION LABEL</a:t>
            </a:r>
            <a:endParaRPr lang="en-US" sz="1200" dirty="0"/>
          </a:p>
        </p:txBody>
      </p:sp>
      <p:sp>
        <p:nvSpPr>
          <p:cNvPr id="11" name="Text 6"/>
          <p:cNvSpPr/>
          <p:nvPr>
            <p:ph idx="109" type="title" hasCustomPrompt="1"/>
          </p:nvPr>
        </p:nvSpPr>
        <p:spPr>
          <a:xfrm>
            <a:off x="548640" y="1024128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12" name="Text 6"/>
          <p:cNvSpPr/>
          <p:nvPr>
            <p:ph idx="110" type="body" hasCustomPrompt="1"/>
          </p:nvPr>
        </p:nvSpPr>
        <p:spPr>
          <a:xfrm>
            <a:off x="548640" y="1965960"/>
            <a:ext cx="10607040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Body 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HSD Two 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tpl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600200"/>
            <a:ext cx="3429000" cy="4626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B111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548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6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PERPETUAL HELP SYSTEM DALTA  ·  GRADUATE SCHOOL</a:t>
            </a:r>
            <a:endParaRPr lang="en-US" sz="1050" dirty="0"/>
          </a:p>
        </p:txBody>
      </p:sp>
      <p:pic>
        <p:nvPicPr>
          <p:cNvPr id="6" name="Image 1" descr="/home/claude/work/tpl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73152"/>
            <a:ext cx="548640" cy="7223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6327648"/>
            <a:ext cx="11094415" cy="18288"/>
          </a:xfrm>
          <a:prstGeom prst="rect">
            <a:avLst/>
          </a:prstGeom>
          <a:solidFill>
            <a:srgbClr val="E3D3AE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Perpetual Help System DALTA  ·  Graduate School  ·  Las Piñas City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766560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B11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Building is Nation Building</a:t>
            </a:r>
            <a:endParaRPr lang="en-US" sz="10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548640" y="731520"/>
            <a:ext cx="104241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SECTION LABEL</a:t>
            </a:r>
            <a:endParaRPr lang="en-US" sz="1200" dirty="0"/>
          </a:p>
        </p:txBody>
      </p:sp>
      <p:sp>
        <p:nvSpPr>
          <p:cNvPr id="11" name="Text 6"/>
          <p:cNvSpPr/>
          <p:nvPr>
            <p:ph idx="109" type="title" hasCustomPrompt="1"/>
          </p:nvPr>
        </p:nvSpPr>
        <p:spPr>
          <a:xfrm>
            <a:off x="548640" y="1024128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12" name="Text 6"/>
          <p:cNvSpPr/>
          <p:nvPr>
            <p:ph idx="110" type="body" hasCustomPrompt="1"/>
          </p:nvPr>
        </p:nvSpPr>
        <p:spPr>
          <a:xfrm>
            <a:off x="548640" y="201168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Left heading</a:t>
            </a:r>
            <a:endParaRPr lang="en-US" sz="18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548640" y="2514600"/>
            <a:ext cx="525780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Left column</a:t>
            </a:r>
            <a:endParaRPr lang="en-US" sz="1700" dirty="0"/>
          </a:p>
        </p:txBody>
      </p:sp>
      <p:sp>
        <p:nvSpPr>
          <p:cNvPr id="14" name="Shape 6"/>
          <p:cNvSpPr/>
          <p:nvPr/>
        </p:nvSpPr>
        <p:spPr>
          <a:xfrm>
            <a:off x="6089904" y="2057400"/>
            <a:ext cx="18288" cy="3977640"/>
          </a:xfrm>
          <a:prstGeom prst="rect">
            <a:avLst/>
          </a:prstGeom>
          <a:solidFill>
            <a:srgbClr val="E3D3AE"/>
          </a:solidFill>
          <a:ln/>
        </p:spPr>
      </p:sp>
      <p:sp>
        <p:nvSpPr>
          <p:cNvPr id="15" name="Text 7"/>
          <p:cNvSpPr/>
          <p:nvPr>
            <p:ph idx="113" type="body" hasCustomPrompt="1"/>
          </p:nvPr>
        </p:nvSpPr>
        <p:spPr>
          <a:xfrm>
            <a:off x="6382512" y="201168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Right heading</a:t>
            </a:r>
            <a:endParaRPr lang="en-US" sz="1800" dirty="0"/>
          </a:p>
        </p:txBody>
      </p:sp>
      <p:sp>
        <p:nvSpPr>
          <p:cNvPr id="16" name="Text 7"/>
          <p:cNvSpPr/>
          <p:nvPr>
            <p:ph idx="114" type="body" hasCustomPrompt="1"/>
          </p:nvPr>
        </p:nvSpPr>
        <p:spPr>
          <a:xfrm>
            <a:off x="6382512" y="2514600"/>
            <a:ext cx="525780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Right column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HSD 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tpl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600200"/>
            <a:ext cx="3429000" cy="4626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7B111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548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6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PERPETUAL HELP SYSTEM DALTA  ·  GRADUATE SCHOOL</a:t>
            </a:r>
            <a:endParaRPr lang="en-US" sz="1050" dirty="0"/>
          </a:p>
        </p:txBody>
      </p:sp>
      <p:pic>
        <p:nvPicPr>
          <p:cNvPr id="6" name="Image 1" descr="/home/claude/work/tpl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73152"/>
            <a:ext cx="548640" cy="7223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6327648"/>
            <a:ext cx="11094415" cy="18288"/>
          </a:xfrm>
          <a:prstGeom prst="rect">
            <a:avLst/>
          </a:prstGeom>
          <a:solidFill>
            <a:srgbClr val="E3D3AE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Perpetual Help System DALTA  ·  Graduate School  ·  Las Piñas City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766560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B11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Building is Nation Building</a:t>
            </a:r>
            <a:endParaRPr lang="en-US" sz="10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548640" y="731520"/>
            <a:ext cx="104241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SECTION LABEL</a:t>
            </a:r>
            <a:endParaRPr lang="en-US" sz="1200" dirty="0"/>
          </a:p>
        </p:txBody>
      </p:sp>
      <p:sp>
        <p:nvSpPr>
          <p:cNvPr id="11" name="Text 6"/>
          <p:cNvSpPr/>
          <p:nvPr>
            <p:ph idx="109" type="title" hasCustomPrompt="1"/>
          </p:nvPr>
        </p:nvSpPr>
        <p:spPr>
          <a:xfrm>
            <a:off x="548640" y="1024128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HSD Quote">
    <p:bg>
      <p:bgPr>
        <a:solidFill>
          <a:srgbClr val="F6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tpl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0"/>
            <a:ext cx="4023360" cy="54223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B1113"/>
          </a:solidFill>
          <a:ln/>
        </p:spPr>
      </p:sp>
      <p:sp>
        <p:nvSpPr>
          <p:cNvPr id="4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1280160" y="1828800"/>
            <a:ext cx="950976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2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key message, finding, or quotation</a:t>
            </a:r>
            <a:endParaRPr lang="en-US" sz="32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280160" y="4663440"/>
            <a:ext cx="9509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— Source, year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2801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Perpetual Help System DALTA  ·  Graduate School  ·  Las Piñas City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HSD Closing">
    <p:bg>
      <p:bgPr>
        <a:solidFill>
          <a:srgbClr val="4E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B11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45936"/>
            <a:ext cx="12191695" cy="54864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4" name="Image 0" descr="/home/claude/work/tpl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502920"/>
            <a:ext cx="1901952" cy="2514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6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BUILDING IS NATION BUILDING</a:t>
            </a:r>
            <a:endParaRPr lang="en-US" sz="12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371600" y="4251960"/>
            <a:ext cx="944849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Presenter · email · questions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body" hasCustomPrompt="1"/>
          </p:nvPr>
        </p:nvSpPr>
        <p:spPr>
          <a:xfrm>
            <a:off x="475488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MAEEMNGT 2211  ·  SECTION 4-MAED-EM-H</a:t>
            </a:r>
            <a:endParaRPr lang="en-US" sz="130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4754880" y="178308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 Goes Here</a:t>
            </a:r>
            <a:endParaRPr lang="en-US" sz="4400" dirty="0"/>
          </a:p>
        </p:txBody>
      </p:sp>
      <p:sp>
        <p:nvSpPr>
          <p:cNvPr id="4" name="Text 5"/>
          <p:cNvSpPr/>
          <p:nvPr>
            <p:ph idx="108" type="body" hasCustomPrompt="1"/>
          </p:nvPr>
        </p:nvSpPr>
        <p:spPr>
          <a:xfrm>
            <a:off x="4754880" y="3703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Subtitle, topic, or inquiry question</a:t>
            </a:r>
            <a:endParaRPr lang="en-US" sz="2000" dirty="0"/>
          </a:p>
        </p:txBody>
      </p:sp>
      <p:sp>
        <p:nvSpPr>
          <p:cNvPr id="5" name="Text 5"/>
          <p:cNvSpPr/>
          <p:nvPr>
            <p:ph idx="109" type="body" hasCustomPrompt="1"/>
          </p:nvPr>
        </p:nvSpPr>
        <p:spPr>
          <a:xfrm>
            <a:off x="4754880" y="4754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Presenter Name  ·  Group [No.]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Saturday, October 17,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body" hasCustomPrompt="1"/>
          </p:nvPr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</a:t>
            </a:r>
            <a:endParaRPr lang="en-US" sz="14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822960" y="22402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Section Divider Title</a:t>
            </a:r>
            <a:endParaRPr lang="en-US" sz="44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822960" y="38404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Use this layout to open each major part of the presentation.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8" type="body" hasCustomPrompt="1"/>
          </p:nvPr>
        </p:nvSpPr>
        <p:spPr>
          <a:xfrm>
            <a:off x="548640" y="731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3" name="Text 6"/>
          <p:cNvSpPr/>
          <p:nvPr>
            <p:ph idx="109" type="title" hasCustomPrompt="1"/>
          </p:nvPr>
        </p:nvSpPr>
        <p:spPr>
          <a:xfrm>
            <a:off x="548640" y="10241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Title and Content Slide</a:t>
            </a:r>
            <a:endParaRPr lang="en-US" sz="3200" dirty="0"/>
          </a:p>
        </p:txBody>
      </p:sp>
      <p:sp>
        <p:nvSpPr>
          <p:cNvPr id="4" name="Text 6"/>
          <p:cNvSpPr/>
          <p:nvPr>
            <p:ph idx="110" type="body" hasCustomPrompt="1"/>
          </p:nvPr>
        </p:nvSpPr>
        <p:spPr>
          <a:xfrm>
            <a:off x="548640" y="1965960"/>
            <a:ext cx="10607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Lead with the point, then the evidence that supports it.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to three to five bullets, one line each where possible.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Cite sources on the slide in APA 7th edition, e.g., (Grissom et al., 2021).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Name a concrete Philippine school, policy, or program.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8" type="body" hasCustomPrompt="1"/>
          </p:nvPr>
        </p:nvSpPr>
        <p:spPr>
          <a:xfrm>
            <a:off x="548640" y="731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COMPARISON</a:t>
            </a:r>
            <a:endParaRPr lang="en-US" sz="1200" dirty="0"/>
          </a:p>
        </p:txBody>
      </p:sp>
      <p:sp>
        <p:nvSpPr>
          <p:cNvPr id="3" name="Text 6"/>
          <p:cNvSpPr/>
          <p:nvPr>
            <p:ph idx="109" type="title" hasCustomPrompt="1"/>
          </p:nvPr>
        </p:nvSpPr>
        <p:spPr>
          <a:xfrm>
            <a:off x="548640" y="10241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Two-Column Slide</a:t>
            </a:r>
            <a:endParaRPr lang="en-US" sz="3200" dirty="0"/>
          </a:p>
        </p:txBody>
      </p:sp>
      <p:sp>
        <p:nvSpPr>
          <p:cNvPr id="4" name="Text 6"/>
          <p:cNvSpPr/>
          <p:nvPr>
            <p:ph idx="110" type="body" hasCustomPrompt="1"/>
          </p:nvPr>
        </p:nvSpPr>
        <p:spPr>
          <a:xfrm>
            <a:off x="548640" y="201168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Before / Policy as written</a:t>
            </a:r>
            <a:endParaRPr lang="en-US" sz="1800" dirty="0"/>
          </a:p>
        </p:txBody>
      </p:sp>
      <p:sp>
        <p:nvSpPr>
          <p:cNvPr id="5" name="Text 6"/>
          <p:cNvSpPr/>
          <p:nvPr>
            <p:ph idx="111" type="body" hasCustomPrompt="1"/>
          </p:nvPr>
        </p:nvSpPr>
        <p:spPr>
          <a:xfrm>
            <a:off x="548640" y="2514600"/>
            <a:ext cx="5257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Point one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Point two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Point three</a:t>
            </a:r>
            <a:endParaRPr lang="en-US" sz="1700" dirty="0"/>
          </a:p>
        </p:txBody>
      </p:sp>
      <p:sp>
        <p:nvSpPr>
          <p:cNvPr id="6" name="Text 7"/>
          <p:cNvSpPr/>
          <p:nvPr>
            <p:ph idx="113" type="body" hasCustomPrompt="1"/>
          </p:nvPr>
        </p:nvSpPr>
        <p:spPr>
          <a:xfrm>
            <a:off x="6382512" y="201168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After / Policy in practice</a:t>
            </a:r>
            <a:endParaRPr lang="en-US" sz="1800" dirty="0"/>
          </a:p>
        </p:txBody>
      </p:sp>
      <p:sp>
        <p:nvSpPr>
          <p:cNvPr id="7" name="Text 7"/>
          <p:cNvSpPr/>
          <p:nvPr>
            <p:ph idx="114" type="body" hasCustomPrompt="1"/>
          </p:nvPr>
        </p:nvSpPr>
        <p:spPr>
          <a:xfrm>
            <a:off x="6382512" y="2514600"/>
            <a:ext cx="5257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Point one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Point two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Point three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8" type="body" hasCustomPrompt="1"/>
          </p:nvPr>
        </p:nvSpPr>
        <p:spPr>
          <a:xfrm>
            <a:off x="548640" y="731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THREE IDEAS</a:t>
            </a:r>
            <a:endParaRPr lang="en-US" sz="1200" dirty="0"/>
          </a:p>
        </p:txBody>
      </p:sp>
      <p:sp>
        <p:nvSpPr>
          <p:cNvPr id="3" name="Text 6"/>
          <p:cNvSpPr/>
          <p:nvPr>
            <p:ph idx="109" type="title" hasCustomPrompt="1"/>
          </p:nvPr>
        </p:nvSpPr>
        <p:spPr>
          <a:xfrm>
            <a:off x="548640" y="10241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Three-Card Slide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383280" cy="3840480"/>
          </a:xfrm>
          <a:prstGeom prst="roundRect">
            <a:avLst>
              <a:gd name="adj" fmla="val 2703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3383280" cy="91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idea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or two sentences that explain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33088" y="2103120"/>
            <a:ext cx="3383280" cy="3840480"/>
          </a:xfrm>
          <a:prstGeom prst="roundRect">
            <a:avLst>
              <a:gd name="adj" fmla="val 2703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33088" y="2103120"/>
            <a:ext cx="3383280" cy="91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3128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idea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3931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or two sentences that explain it.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17536" y="2103120"/>
            <a:ext cx="3383280" cy="3840480"/>
          </a:xfrm>
          <a:prstGeom prst="roundRect">
            <a:avLst>
              <a:gd name="adj" fmla="val 2703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17536" y="2103120"/>
            <a:ext cx="3383280" cy="91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37576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037576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 idea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037576" y="39319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or two sentences that explain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8" type="body" hasCustomPrompt="1"/>
          </p:nvPr>
        </p:nvSpPr>
        <p:spPr>
          <a:xfrm>
            <a:off x="548640" y="7315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DATA</a:t>
            </a:r>
            <a:endParaRPr lang="en-US" sz="1200" dirty="0"/>
          </a:p>
        </p:txBody>
      </p:sp>
      <p:sp>
        <p:nvSpPr>
          <p:cNvPr id="3" name="Text 6"/>
          <p:cNvSpPr/>
          <p:nvPr>
            <p:ph idx="109" type="title" hasCustomPrompt="1"/>
          </p:nvPr>
        </p:nvSpPr>
        <p:spPr>
          <a:xfrm>
            <a:off x="548640" y="10241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Table Slide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04241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173736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Indicator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Baseline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Learners reading at grade level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School Report Card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Teacher attendance at LAC sessions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LAC records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Parent participation in school activities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PTA minutes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Learner completion rate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3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1280160" y="1828800"/>
            <a:ext cx="9509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in education is not a position that one waits to be given. It is work done on purpose, with people, on evidence, and for learners.</a:t>
            </a:r>
            <a:endParaRPr lang="en-US" sz="32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280160" y="46634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— Core course philosophy, MAEEMNGT 2211 Course Guide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1113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914400" y="32461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371600" y="4251960"/>
            <a:ext cx="94484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Presenter Name  ·  name@perpetualdalta.edu.ph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and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HSD Graduate School">
  <a:themeElements>
    <a:clrScheme name="UPHSD Graduate School">
      <a:dk1>
        <a:srgbClr val="231F20"/>
      </a:dk1>
      <a:lt1>
        <a:srgbClr val="FFFFFF"/>
      </a:lt1>
      <a:dk2>
        <a:srgbClr val="7B1113"/>
      </a:dk2>
      <a:lt2>
        <a:srgbClr val="F6EDDD"/>
      </a:lt2>
      <a:accent1>
        <a:srgbClr val="7B1113"/>
      </a:accent1>
      <a:accent2>
        <a:srgbClr val="C9A227"/>
      </a:accent2>
      <a:accent3>
        <a:srgbClr val="4E0A0C"/>
      </a:accent3>
      <a:accent4>
        <a:srgbClr val="E3D3AE"/>
      </a:accent4>
      <a:accent5>
        <a:srgbClr val="6B6B6B"/>
      </a:accent5>
      <a:accent6>
        <a:srgbClr val="FBF7EF"/>
      </a:accent6>
      <a:hlink>
        <a:srgbClr val="7B1113"/>
      </a:hlink>
      <a:folHlink>
        <a:srgbClr val="4E0A0C"/>
      </a:folHlink>
    </a:clrScheme>
    <a:fontScheme name="UPHSD Graduate Schoo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University of Perpetual Help System DALTA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UPHSD Graduate School Slide Template</dc:title>
  <dc:subject>PptxGenJS Presentation</dc:subject>
  <dc:creator>Carlo S. Villalona, LPT, PhD</dc:creator>
  <cp:lastModifiedBy>Carlo S. Villalona, LPT, PhD</cp:lastModifiedBy>
  <cp:revision>1</cp:revision>
  <dcterms:created xsi:type="dcterms:W3CDTF">2026-10-14T14:17:41Z</dcterms:created>
  <dcterms:modified xsi:type="dcterms:W3CDTF">2026-10-14T14:17:41Z</dcterms:modified>
</cp:coreProperties>
</file>